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10287000" cx="18288000"/>
  <p:notesSz cx="6858000" cy="9144000"/>
  <p:embeddedFontLst>
    <p:embeddedFont>
      <p:font typeface="Playfair Display SemiBold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hRct6WhpjnLYkE824ii1GYaFHa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font" Target="fonts/PlayfairDisplaySemiBold-regular.fntdata"/><Relationship Id="rId14" Type="http://schemas.openxmlformats.org/officeDocument/2006/relationships/font" Target="fonts/PlayfairDisplaySemiBold-bold.fntdata"/><Relationship Id="rId15" Type="http://schemas.openxmlformats.org/officeDocument/2006/relationships/font" Target="fonts/PlayfairDisplaySemiBold-italic.fntdata"/><Relationship Id="rId16" Type="http://schemas.openxmlformats.org/officeDocument/2006/relationships/font" Target="fonts/PlayfairDisplaySemiBold-boldItalic.fntdata"/><Relationship Id="rId1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4.png"/><Relationship Id="rId8" Type="http://schemas.openxmlformats.org/officeDocument/2006/relationships/image" Target="../media/image14.png"/><Relationship Id="rId9" Type="http://schemas.openxmlformats.org/officeDocument/2006/relationships/image" Target="../media/image2.png"/><Relationship Id="rId10" Type="http://schemas.openxmlformats.org/officeDocument/2006/relationships/image" Target="../media/image6.png"/><Relationship Id="rId11" Type="http://schemas.openxmlformats.org/officeDocument/2006/relationships/image" Target="../media/image3.png"/><Relationship Id="rId12" Type="http://schemas.openxmlformats.org/officeDocument/2006/relationships/image" Target="../media/image13.png"/><Relationship Id="rId13" Type="http://schemas.openxmlformats.org/officeDocument/2006/relationships/image" Target="../media/image8.png"/><Relationship Id="rId14" Type="http://schemas.openxmlformats.org/officeDocument/2006/relationships/image" Target="../media/image7.png"/><Relationship Id="rId15" Type="http://schemas.openxmlformats.org/officeDocument/2006/relationships/image" Target="../media/image16.png"/><Relationship Id="rId16" Type="http://schemas.openxmlformats.org/officeDocument/2006/relationships/image" Target="../media/image10.png"/><Relationship Id="rId17" Type="http://schemas.openxmlformats.org/officeDocument/2006/relationships/image" Target="../media/image9.png"/><Relationship Id="rId18" Type="http://schemas.openxmlformats.org/officeDocument/2006/relationships/image" Target="../media/image1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  <p:txBody>
          <a:bodyPr/>
          <a:p/>
        </p:txBody>
      </p:sp>
      <p:sp>
        <p:nvSpPr>
          <p:cNvPr id="85" name="Google Shape;85;p1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86" name="Google Shape;86;p1"/>
          <p:cNvSpPr/>
          <p:nvPr/>
        </p:nvSpPr>
        <p:spPr>
          <a:xfrm>
            <a:off x="1274325" y="307375"/>
            <a:ext cx="14692810" cy="1101598"/>
          </a:xfrm>
          <a:custGeom>
            <a:rect b="b" l="l" r="r" t="t"/>
            <a:pathLst>
              <a:path extrusionOk="0" h="1101598" w="14127702">
                <a:moveTo>
                  <a:pt x="0" y="0"/>
                </a:moveTo>
                <a:lnTo>
                  <a:pt x="14127702" y="0"/>
                </a:lnTo>
                <a:lnTo>
                  <a:pt x="14127702" y="1101598"/>
                </a:lnTo>
                <a:lnTo>
                  <a:pt x="0" y="11015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0072" l="-953" r="-12923" t="-10072"/>
            </a:stretch>
          </a:blipFill>
          <a:ln>
            <a:noFill/>
          </a:ln>
        </p:spPr>
        <p:txBody>
          <a:bodyPr/>
          <a:p/>
        </p:txBody>
      </p:sp>
      <p:sp>
        <p:nvSpPr>
          <p:cNvPr id="87" name="Google Shape;87;p1"/>
          <p:cNvSpPr/>
          <p:nvPr/>
        </p:nvSpPr>
        <p:spPr>
          <a:xfrm>
            <a:off x="1591320" y="362859"/>
            <a:ext cx="610238" cy="832142"/>
          </a:xfrm>
          <a:custGeom>
            <a:rect b="b" l="l" r="r" t="t"/>
            <a:pathLst>
              <a:path extrusionOk="0" h="832142" w="610238">
                <a:moveTo>
                  <a:pt x="0" y="0"/>
                </a:moveTo>
                <a:lnTo>
                  <a:pt x="610237" y="0"/>
                </a:lnTo>
                <a:lnTo>
                  <a:pt x="610237" y="832142"/>
                </a:lnTo>
                <a:lnTo>
                  <a:pt x="0" y="832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88" name="Google Shape;88;p1"/>
          <p:cNvSpPr/>
          <p:nvPr/>
        </p:nvSpPr>
        <p:spPr>
          <a:xfrm>
            <a:off x="4415789" y="372692"/>
            <a:ext cx="901250" cy="901250"/>
          </a:xfrm>
          <a:custGeom>
            <a:rect b="b" l="l" r="r" t="t"/>
            <a:pathLst>
              <a:path extrusionOk="0" h="901250" w="901250">
                <a:moveTo>
                  <a:pt x="0" y="0"/>
                </a:moveTo>
                <a:lnTo>
                  <a:pt x="901249" y="0"/>
                </a:lnTo>
                <a:lnTo>
                  <a:pt x="901249" y="901249"/>
                </a:lnTo>
                <a:lnTo>
                  <a:pt x="0" y="9012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89" name="Google Shape;89;p1"/>
          <p:cNvSpPr/>
          <p:nvPr/>
        </p:nvSpPr>
        <p:spPr>
          <a:xfrm>
            <a:off x="13628758" y="488306"/>
            <a:ext cx="1172861" cy="616220"/>
          </a:xfrm>
          <a:custGeom>
            <a:rect b="b" l="l" r="r" t="t"/>
            <a:pathLst>
              <a:path extrusionOk="0" h="616220" w="1172861">
                <a:moveTo>
                  <a:pt x="0" y="0"/>
                </a:moveTo>
                <a:lnTo>
                  <a:pt x="1172860" y="0"/>
                </a:lnTo>
                <a:lnTo>
                  <a:pt x="1172860" y="616220"/>
                </a:lnTo>
                <a:lnTo>
                  <a:pt x="0" y="6162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90" name="Google Shape;90;p1"/>
          <p:cNvSpPr/>
          <p:nvPr/>
        </p:nvSpPr>
        <p:spPr>
          <a:xfrm>
            <a:off x="5926638" y="538306"/>
            <a:ext cx="1721890" cy="626142"/>
          </a:xfrm>
          <a:custGeom>
            <a:rect b="b" l="l" r="r" t="t"/>
            <a:pathLst>
              <a:path extrusionOk="0" h="626142" w="1721890">
                <a:moveTo>
                  <a:pt x="0" y="0"/>
                </a:moveTo>
                <a:lnTo>
                  <a:pt x="1721890" y="0"/>
                </a:lnTo>
                <a:lnTo>
                  <a:pt x="1721890" y="626142"/>
                </a:lnTo>
                <a:lnTo>
                  <a:pt x="0" y="626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156816" l="-72694" r="-73660" t="-170790"/>
            </a:stretch>
          </a:blipFill>
          <a:ln>
            <a:noFill/>
          </a:ln>
        </p:spPr>
        <p:txBody>
          <a:bodyPr/>
          <a:p/>
        </p:txBody>
      </p:sp>
      <p:sp>
        <p:nvSpPr>
          <p:cNvPr id="91" name="Google Shape;91;p1"/>
          <p:cNvSpPr/>
          <p:nvPr/>
        </p:nvSpPr>
        <p:spPr>
          <a:xfrm>
            <a:off x="8258128" y="488306"/>
            <a:ext cx="1474047" cy="670021"/>
          </a:xfrm>
          <a:custGeom>
            <a:rect b="b" l="l" r="r" t="t"/>
            <a:pathLst>
              <a:path extrusionOk="0" h="670021" w="1474047">
                <a:moveTo>
                  <a:pt x="0" y="0"/>
                </a:moveTo>
                <a:lnTo>
                  <a:pt x="1474047" y="0"/>
                </a:lnTo>
                <a:lnTo>
                  <a:pt x="1474047" y="670021"/>
                </a:lnTo>
                <a:lnTo>
                  <a:pt x="0" y="670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-91756" l="-16057" r="-11397" t="-88646"/>
            </a:stretch>
          </a:blipFill>
          <a:ln>
            <a:noFill/>
          </a:ln>
        </p:spPr>
        <p:txBody>
          <a:bodyPr/>
          <a:p/>
        </p:txBody>
      </p:sp>
      <p:sp>
        <p:nvSpPr>
          <p:cNvPr id="92" name="Google Shape;92;p1"/>
          <p:cNvSpPr/>
          <p:nvPr/>
        </p:nvSpPr>
        <p:spPr>
          <a:xfrm>
            <a:off x="10341775" y="488306"/>
            <a:ext cx="2677383" cy="585678"/>
          </a:xfrm>
          <a:custGeom>
            <a:rect b="b" l="l" r="r" t="t"/>
            <a:pathLst>
              <a:path extrusionOk="0" h="585678" w="2677383">
                <a:moveTo>
                  <a:pt x="0" y="0"/>
                </a:moveTo>
                <a:lnTo>
                  <a:pt x="2677383" y="0"/>
                </a:lnTo>
                <a:lnTo>
                  <a:pt x="2677383" y="585677"/>
                </a:lnTo>
                <a:lnTo>
                  <a:pt x="0" y="5856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93" name="Google Shape;93;p1"/>
          <p:cNvSpPr txBox="1"/>
          <p:nvPr/>
        </p:nvSpPr>
        <p:spPr>
          <a:xfrm>
            <a:off x="2149315" y="481156"/>
            <a:ext cx="1655535" cy="461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52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MANIPAL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2149315" y="833903"/>
            <a:ext cx="1655535" cy="302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400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3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ACADEMY OF HIGHER EDUCATION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2149315" y="1098287"/>
            <a:ext cx="1655535" cy="132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400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646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Institution of Embrace Diamant in the University</a:t>
            </a:r>
            <a:endParaRPr/>
          </a:p>
        </p:txBody>
      </p:sp>
      <p:sp>
        <p:nvSpPr>
          <p:cNvPr id="96" name="Google Shape;96;p1"/>
          <p:cNvSpPr/>
          <p:nvPr/>
        </p:nvSpPr>
        <p:spPr>
          <a:xfrm>
            <a:off x="12144375" y="3869391"/>
            <a:ext cx="6143625" cy="6417609"/>
          </a:xfrm>
          <a:custGeom>
            <a:rect b="b" l="l" r="r" t="t"/>
            <a:pathLst>
              <a:path extrusionOk="0" h="6417609" w="6143625">
                <a:moveTo>
                  <a:pt x="0" y="0"/>
                </a:moveTo>
                <a:lnTo>
                  <a:pt x="6143625" y="0"/>
                </a:lnTo>
                <a:lnTo>
                  <a:pt x="6143625" y="6417609"/>
                </a:lnTo>
                <a:lnTo>
                  <a:pt x="0" y="6417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-4932" l="0" r="0" t="0"/>
            </a:stretch>
          </a:blipFill>
          <a:ln>
            <a:noFill/>
          </a:ln>
        </p:spPr>
        <p:txBody>
          <a:bodyPr/>
          <a:p/>
        </p:txBody>
      </p:sp>
      <p:grpSp>
        <p:nvGrpSpPr>
          <p:cNvPr id="97" name="Google Shape;97;p1"/>
          <p:cNvGrpSpPr/>
          <p:nvPr/>
        </p:nvGrpSpPr>
        <p:grpSpPr>
          <a:xfrm>
            <a:off x="1028700" y="1593199"/>
            <a:ext cx="10533832" cy="4930312"/>
            <a:chOff x="0" y="-314325"/>
            <a:chExt cx="12613857" cy="6573749"/>
          </a:xfrm>
        </p:grpSpPr>
        <p:sp>
          <p:nvSpPr>
            <p:cNvPr id="98" name="Google Shape;98;p1"/>
            <p:cNvSpPr txBox="1"/>
            <p:nvPr/>
          </p:nvSpPr>
          <p:spPr>
            <a:xfrm>
              <a:off x="382399" y="-314325"/>
              <a:ext cx="11904300" cy="33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468" u="none" cap="none" strike="noStrike">
                  <a:solidFill>
                    <a:srgbClr val="5DE0E6"/>
                  </a:solidFill>
                  <a:latin typeface="Times"/>
                  <a:ea typeface="Times"/>
                  <a:cs typeface="Times"/>
                  <a:sym typeface="Times"/>
                </a:rPr>
                <a:t>HackSprint</a:t>
              </a:r>
              <a:endParaRPr/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2124439" y="2762951"/>
              <a:ext cx="8394485" cy="1047467"/>
            </a:xfrm>
            <a:custGeom>
              <a:rect b="b" l="l" r="r" t="t"/>
              <a:pathLst>
                <a:path extrusionOk="0" h="1047467" w="8394485">
                  <a:moveTo>
                    <a:pt x="0" y="0"/>
                  </a:moveTo>
                  <a:lnTo>
                    <a:pt x="8394485" y="0"/>
                  </a:lnTo>
                  <a:lnTo>
                    <a:pt x="8394485" y="1047467"/>
                  </a:lnTo>
                  <a:lnTo>
                    <a:pt x="0" y="10474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3">
                <a:alphaModFix/>
              </a:blip>
              <a:stretch>
                <a:fillRect b="0" l="-1933" r="-1581" t="-18310"/>
              </a:stretch>
            </a:blipFill>
            <a:ln>
              <a:noFill/>
            </a:ln>
          </p:spPr>
        </p:sp>
        <p:sp>
          <p:nvSpPr>
            <p:cNvPr id="100" name="Google Shape;100;p1"/>
            <p:cNvSpPr/>
            <p:nvPr/>
          </p:nvSpPr>
          <p:spPr>
            <a:xfrm>
              <a:off x="0" y="3795665"/>
              <a:ext cx="12613857" cy="2463759"/>
            </a:xfrm>
            <a:custGeom>
              <a:rect b="b" l="l" r="r" t="t"/>
              <a:pathLst>
                <a:path extrusionOk="0" h="2463759" w="12613857">
                  <a:moveTo>
                    <a:pt x="0" y="0"/>
                  </a:moveTo>
                  <a:lnTo>
                    <a:pt x="12613857" y="0"/>
                  </a:lnTo>
                  <a:lnTo>
                    <a:pt x="12613857" y="2463759"/>
                  </a:lnTo>
                  <a:lnTo>
                    <a:pt x="0" y="24637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1" name="Google Shape;101;p1"/>
            <p:cNvSpPr/>
            <p:nvPr/>
          </p:nvSpPr>
          <p:spPr>
            <a:xfrm>
              <a:off x="3083387" y="4400540"/>
              <a:ext cx="575369" cy="1239256"/>
            </a:xfrm>
            <a:custGeom>
              <a:rect b="b" l="l" r="r" t="t"/>
              <a:pathLst>
                <a:path extrusionOk="0" h="1239256" w="575369">
                  <a:moveTo>
                    <a:pt x="0" y="0"/>
                  </a:moveTo>
                  <a:lnTo>
                    <a:pt x="575369" y="0"/>
                  </a:lnTo>
                  <a:lnTo>
                    <a:pt x="575369" y="1239256"/>
                  </a:lnTo>
                  <a:lnTo>
                    <a:pt x="0" y="12392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2" name="Google Shape;102;p1"/>
            <p:cNvSpPr/>
            <p:nvPr/>
          </p:nvSpPr>
          <p:spPr>
            <a:xfrm>
              <a:off x="8689546" y="4400540"/>
              <a:ext cx="73765" cy="1239256"/>
            </a:xfrm>
            <a:custGeom>
              <a:rect b="b" l="l" r="r" t="t"/>
              <a:pathLst>
                <a:path extrusionOk="0" h="1239256" w="73765">
                  <a:moveTo>
                    <a:pt x="0" y="0"/>
                  </a:moveTo>
                  <a:lnTo>
                    <a:pt x="73765" y="0"/>
                  </a:lnTo>
                  <a:lnTo>
                    <a:pt x="73765" y="1239256"/>
                  </a:lnTo>
                  <a:lnTo>
                    <a:pt x="0" y="12392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6">
                <a:alphaModFix/>
              </a:blip>
              <a:stretch>
                <a:fillRect b="0" l="-20000" r="-280000" t="0"/>
              </a:stretch>
            </a:blipFill>
            <a:ln>
              <a:noFill/>
            </a:ln>
          </p:spPr>
        </p:sp>
        <p:sp>
          <p:nvSpPr>
            <p:cNvPr id="103" name="Google Shape;103;p1"/>
            <p:cNvSpPr txBox="1"/>
            <p:nvPr/>
          </p:nvSpPr>
          <p:spPr>
            <a:xfrm>
              <a:off x="2436968" y="2920863"/>
              <a:ext cx="7221300" cy="7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20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24-Hour Hackathon</a:t>
              </a:r>
              <a:endParaRPr/>
            </a:p>
          </p:txBody>
        </p:sp>
        <p:sp>
          <p:nvSpPr>
            <p:cNvPr id="104" name="Google Shape;104;p1"/>
            <p:cNvSpPr txBox="1"/>
            <p:nvPr/>
          </p:nvSpPr>
          <p:spPr>
            <a:xfrm>
              <a:off x="865835" y="4393321"/>
              <a:ext cx="2417100" cy="101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938" u="none" cap="none" strike="noStrike">
                  <a:solidFill>
                    <a:srgbClr val="5DE0E6"/>
                  </a:solidFill>
                  <a:latin typeface="Arial"/>
                  <a:ea typeface="Arial"/>
                  <a:cs typeface="Arial"/>
                  <a:sym typeface="Arial"/>
                </a:rPr>
                <a:t>17-18</a:t>
              </a:r>
              <a:endParaRPr/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4400894" y="4940029"/>
              <a:ext cx="3474600" cy="74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995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44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Manipal Academy of Higher Education (MAHE)</a:t>
              </a:r>
              <a:endParaRPr/>
            </a:p>
          </p:txBody>
        </p:sp>
        <p:sp>
          <p:nvSpPr>
            <p:cNvPr id="106" name="Google Shape;106;p1"/>
            <p:cNvSpPr txBox="1"/>
            <p:nvPr/>
          </p:nvSpPr>
          <p:spPr>
            <a:xfrm>
              <a:off x="1047112" y="5438889"/>
              <a:ext cx="1389900" cy="3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3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2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OCTOBER</a:t>
              </a:r>
              <a:endParaRPr/>
            </a:p>
          </p:txBody>
        </p:sp>
        <p:sp>
          <p:nvSpPr>
            <p:cNvPr id="107" name="Google Shape;107;p1"/>
            <p:cNvSpPr txBox="1"/>
            <p:nvPr/>
          </p:nvSpPr>
          <p:spPr>
            <a:xfrm>
              <a:off x="4974964" y="4461918"/>
              <a:ext cx="2296200" cy="34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85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VENUE DETAILS</a:t>
              </a:r>
              <a:endParaRPr/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10141600" y="4781941"/>
              <a:ext cx="1631700" cy="34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85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SATURDAY</a:t>
              </a:r>
              <a:endParaRPr/>
            </a:p>
          </p:txBody>
        </p:sp>
        <p:sp>
          <p:nvSpPr>
            <p:cNvPr id="109" name="Google Shape;109;p1"/>
            <p:cNvSpPr txBox="1"/>
            <p:nvPr/>
          </p:nvSpPr>
          <p:spPr>
            <a:xfrm>
              <a:off x="9416458" y="5168176"/>
              <a:ext cx="2417100" cy="34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85" u="none" cap="none" strike="noStrike">
                  <a:solidFill>
                    <a:srgbClr val="004944"/>
                  </a:solidFill>
                  <a:latin typeface="Arial"/>
                  <a:ea typeface="Arial"/>
                  <a:cs typeface="Arial"/>
                  <a:sym typeface="Arial"/>
                </a:rPr>
                <a:t>09 A.M. Onwards</a:t>
              </a:r>
              <a:endParaRPr/>
            </a:p>
          </p:txBody>
        </p:sp>
      </p:grpSp>
      <p:grpSp>
        <p:nvGrpSpPr>
          <p:cNvPr id="110" name="Google Shape;110;p1"/>
          <p:cNvGrpSpPr/>
          <p:nvPr/>
        </p:nvGrpSpPr>
        <p:grpSpPr>
          <a:xfrm>
            <a:off x="1166813" y="8715375"/>
            <a:ext cx="14049375" cy="1085850"/>
            <a:chOff x="0" y="0"/>
            <a:chExt cx="18732500" cy="1447800"/>
          </a:xfrm>
        </p:grpSpPr>
        <p:sp>
          <p:nvSpPr>
            <p:cNvPr id="111" name="Google Shape;111;p1"/>
            <p:cNvSpPr/>
            <p:nvPr/>
          </p:nvSpPr>
          <p:spPr>
            <a:xfrm>
              <a:off x="0" y="0"/>
              <a:ext cx="18732500" cy="1447800"/>
            </a:xfrm>
            <a:custGeom>
              <a:rect b="b" l="l" r="r" t="t"/>
              <a:pathLst>
                <a:path extrusionOk="0" h="1447800" w="18732500">
                  <a:moveTo>
                    <a:pt x="0" y="0"/>
                  </a:moveTo>
                  <a:lnTo>
                    <a:pt x="18732500" y="0"/>
                  </a:lnTo>
                  <a:lnTo>
                    <a:pt x="18732500" y="1447800"/>
                  </a:lnTo>
                  <a:lnTo>
                    <a:pt x="0" y="14478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7">
                <a:alphaModFix/>
              </a:blip>
              <a:stretch>
                <a:fillRect b="-18422" l="-542" r="-1084" t="-9649"/>
              </a:stretch>
            </a:blipFill>
            <a:ln>
              <a:noFill/>
            </a:ln>
          </p:spPr>
        </p:sp>
        <p:sp>
          <p:nvSpPr>
            <p:cNvPr id="112" name="Google Shape;112;p1"/>
            <p:cNvSpPr/>
            <p:nvPr/>
          </p:nvSpPr>
          <p:spPr>
            <a:xfrm>
              <a:off x="10927848" y="480123"/>
              <a:ext cx="2629904" cy="575802"/>
            </a:xfrm>
            <a:custGeom>
              <a:rect b="b" l="l" r="r" t="t"/>
              <a:pathLst>
                <a:path extrusionOk="0" h="575802" w="2629904">
                  <a:moveTo>
                    <a:pt x="0" y="0"/>
                  </a:moveTo>
                  <a:lnTo>
                    <a:pt x="2629904" y="0"/>
                  </a:lnTo>
                  <a:lnTo>
                    <a:pt x="2629904" y="575802"/>
                  </a:lnTo>
                  <a:lnTo>
                    <a:pt x="0" y="57580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3" name="Google Shape;113;p1"/>
            <p:cNvSpPr txBox="1"/>
            <p:nvPr/>
          </p:nvSpPr>
          <p:spPr>
            <a:xfrm>
              <a:off x="1372006" y="226089"/>
              <a:ext cx="1664614" cy="8298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4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REGISTER NOW</a:t>
              </a:r>
              <a:endParaRPr/>
            </a:p>
          </p:txBody>
        </p:sp>
        <p:sp>
          <p:nvSpPr>
            <p:cNvPr id="114" name="Google Shape;114;p1"/>
            <p:cNvSpPr txBox="1"/>
            <p:nvPr/>
          </p:nvSpPr>
          <p:spPr>
            <a:xfrm>
              <a:off x="7172147" y="252779"/>
              <a:ext cx="1742643" cy="7668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2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Team Size</a:t>
              </a:r>
              <a:endParaRPr/>
            </a:p>
            <a:p>
              <a:pPr indent="0" lvl="0" marL="0" marR="0" rtl="0" algn="ctr">
                <a:lnSpc>
                  <a:spcPct val="16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21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1-4 Members</a:t>
              </a:r>
              <a:endParaRPr/>
            </a:p>
          </p:txBody>
        </p:sp>
        <p:sp>
          <p:nvSpPr>
            <p:cNvPr id="115" name="Google Shape;115;p1"/>
            <p:cNvSpPr txBox="1"/>
            <p:nvPr/>
          </p:nvSpPr>
          <p:spPr>
            <a:xfrm>
              <a:off x="12429346" y="130153"/>
              <a:ext cx="2139716" cy="2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50" u="none" cap="none" strike="noStrike">
                  <a:solidFill>
                    <a:srgbClr val="FFFFFF"/>
                  </a:solidFill>
                  <a:latin typeface="Playfair Display SemiBold"/>
                  <a:ea typeface="Playfair Display SemiBold"/>
                  <a:cs typeface="Playfair Display SemiBold"/>
                  <a:sym typeface="Playfair Display SemiBold"/>
                </a:rPr>
                <a:t>ORGANIZED BY:</a:t>
              </a:r>
              <a:endParaRPr/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14501941" y="232228"/>
              <a:ext cx="721119" cy="983344"/>
            </a:xfrm>
            <a:custGeom>
              <a:rect b="b" l="l" r="r" t="t"/>
              <a:pathLst>
                <a:path extrusionOk="0" h="983344" w="721119">
                  <a:moveTo>
                    <a:pt x="0" y="0"/>
                  </a:moveTo>
                  <a:lnTo>
                    <a:pt x="721119" y="0"/>
                  </a:lnTo>
                  <a:lnTo>
                    <a:pt x="721119" y="983344"/>
                  </a:lnTo>
                  <a:lnTo>
                    <a:pt x="0" y="98334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7" name="Google Shape;117;p1"/>
            <p:cNvSpPr txBox="1"/>
            <p:nvPr/>
          </p:nvSpPr>
          <p:spPr>
            <a:xfrm>
              <a:off x="15125170" y="469001"/>
              <a:ext cx="1260579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14" u="none" cap="none" strike="noStrike">
                  <a:solidFill>
                    <a:srgbClr val="FFFFFF"/>
                  </a:solidFill>
                  <a:latin typeface="Times"/>
                  <a:ea typeface="Times"/>
                  <a:cs typeface="Times"/>
                  <a:sym typeface="Times"/>
                </a:rPr>
                <a:t>MANIPAL</a:t>
              </a:r>
              <a:endParaRPr/>
            </a:p>
          </p:txBody>
        </p:sp>
        <p:sp>
          <p:nvSpPr>
            <p:cNvPr id="118" name="Google Shape;118;p1"/>
            <p:cNvSpPr txBox="1"/>
            <p:nvPr/>
          </p:nvSpPr>
          <p:spPr>
            <a:xfrm>
              <a:off x="15125170" y="762871"/>
              <a:ext cx="1956349" cy="333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400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29" u="none" cap="none" strike="noStrike">
                  <a:solidFill>
                    <a:srgbClr val="FFFFFF"/>
                  </a:solidFill>
                  <a:latin typeface="Times"/>
                  <a:ea typeface="Times"/>
                  <a:cs typeface="Times"/>
                  <a:sym typeface="Times"/>
                </a:rPr>
                <a:t>ACADEMY OF HIGHER EDUCATION</a:t>
              </a:r>
              <a:endParaRPr/>
            </a:p>
          </p:txBody>
        </p:sp>
        <p:sp>
          <p:nvSpPr>
            <p:cNvPr id="119" name="Google Shape;119;p1"/>
            <p:cNvSpPr txBox="1"/>
            <p:nvPr/>
          </p:nvSpPr>
          <p:spPr>
            <a:xfrm>
              <a:off x="15125170" y="1075295"/>
              <a:ext cx="1956349" cy="1385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3996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573" u="none" cap="none" strike="noStrike">
                  <a:solidFill>
                    <a:srgbClr val="FFFFFF"/>
                  </a:solidFill>
                  <a:latin typeface="Times"/>
                  <a:ea typeface="Times"/>
                  <a:cs typeface="Times"/>
                  <a:sym typeface="Times"/>
                </a:rPr>
                <a:t>Institution of Embrace Diamant in the University</a:t>
              </a:r>
              <a:endParaRPr/>
            </a:p>
          </p:txBody>
        </p:sp>
      </p:grpSp>
      <p:sp>
        <p:nvSpPr>
          <p:cNvPr id="120" name="Google Shape;120;p1"/>
          <p:cNvSpPr txBox="1"/>
          <p:nvPr/>
        </p:nvSpPr>
        <p:spPr>
          <a:xfrm>
            <a:off x="1591320" y="6523502"/>
            <a:ext cx="9500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2" u="none" cap="none" strike="noStrike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YOUR NAME: </a:t>
            </a:r>
            <a:r>
              <a:rPr b="0" i="0" lang="en-US" sz="2200" u="none" cap="none" strike="noStrike">
                <a:solidFill>
                  <a:srgbClr val="0B7F88"/>
                </a:solidFill>
                <a:latin typeface="Arial"/>
                <a:ea typeface="Playfair Display SemiBold"/>
                <a:cs typeface="Playfair Display SemiBold"/>
                <a:sym typeface="Playfair Display SemiBold"/>
              </a:rPr>
              <a:t>Nikhil, Shreyas, Koustav, Deekshitha</a:t>
            </a:r>
            <a:endParaRPr/>
          </a:p>
          <a:p>
            <a:pPr indent="0" lvl="0" marL="0" marR="0" rtl="0" algn="l">
              <a:lnSpc>
                <a:spcPct val="912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2" u="none" cap="none" strike="noStrike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marR="0" rtl="0" algn="l">
              <a:lnSpc>
                <a:spcPct val="12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2" u="none" cap="none" strike="noStrike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TEAM NAME: </a:t>
            </a:r>
            <a:r>
              <a:rPr b="0" i="0" lang="en-US" sz="2200" u="none" cap="none" strike="noStrike">
                <a:solidFill>
                  <a:srgbClr val="0B7F88"/>
                </a:solidFill>
                <a:latin typeface="Arial"/>
                <a:ea typeface="Playfair Display SemiBold"/>
                <a:cs typeface="Playfair Display SemiBold"/>
                <a:sym typeface="Playfair Display SemiBold"/>
              </a:rPr>
              <a:t>Chaukanna</a:t>
            </a:r>
            <a:endParaRPr/>
          </a:p>
          <a:p>
            <a:pPr indent="0" lvl="0" marL="0" marR="0" rtl="0" algn="l">
              <a:lnSpc>
                <a:spcPct val="912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2" u="none" cap="none" strike="noStrike">
              <a:solidFill>
                <a:srgbClr val="000000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marR="0" rtl="0" algn="l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2" u="none" cap="none" strike="noStrike">
                <a:solidFill>
                  <a:srgbClr val="000000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TRACK NO:</a:t>
            </a:r>
            <a:r>
              <a:rPr b="0" i="0" lang="en-US" sz="2200" u="none" cap="none" strike="noStrike">
                <a:solidFill>
                  <a:srgbClr val="0B7F88"/>
                </a:solidFill>
                <a:latin typeface="Arial"/>
                <a:ea typeface="Playfair Display SemiBold"/>
                <a:cs typeface="Playfair Display SemiBold"/>
                <a:sym typeface="Playfair Display SemiBold"/>
              </a:rPr>
              <a:t> PS22 · AI Automation with n8n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26" name="Google Shape;126;p2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2"/>
          <p:cNvSpPr txBox="1"/>
          <p:nvPr/>
        </p:nvSpPr>
        <p:spPr>
          <a:xfrm>
            <a:off x="1028700" y="838200"/>
            <a:ext cx="7685837" cy="170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78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Solution</a:t>
            </a:r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7498079" y="1600200"/>
            <a:ext cx="96926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0F2A3D"/>
                </a:solidFill>
                <a:latin typeface="Times"/>
              </a:rPr>
              <a:t>Chaukanna (चौकन्ना): alert, watchful. The call guardian that acts for you.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028700" y="2971800"/>
            <a:ext cx="5943600" cy="6583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371600" y="3200400"/>
            <a:ext cx="5303520" cy="6217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C0392B"/>
                </a:solidFill>
                <a:latin typeface="Arial"/>
              </a:rPr>
              <a:t>THE PROBLEM</a:t>
            </a:r>
          </a:p>
          <a:p>
            <a:pPr algn="l">
              <a:spcAft>
                <a:spcPts val="1400"/>
              </a:spcAft>
            </a:pPr>
            <a:r>
              <a:rPr sz="3200" b="1">
                <a:solidFill>
                  <a:srgbClr val="0F2A3D"/>
                </a:solidFill>
                <a:latin typeface="Times"/>
              </a:rPr>
              <a:t>Digital-arrest &amp; KYC scam calls run on panic</a:t>
            </a:r>
          </a:p>
          <a:p>
            <a:pPr algn="l">
              <a:spcAft>
                <a:spcPts val="1200"/>
              </a:spcAft>
            </a:pPr>
            <a:r>
              <a:rPr sz="2300" b="0">
                <a:solidFill>
                  <a:srgbClr val="4A6372"/>
                </a:solidFill>
                <a:latin typeface="Arial"/>
              </a:rPr>
              <a:t>A fake police, CBI or bank caller keeps the victim on the line and demands secrecy, OTPs and transfers.</a:t>
            </a:r>
          </a:p>
          <a:p>
            <a:pPr algn="l">
              <a:spcAft>
                <a:spcPts val="1200"/>
              </a:spcAft>
            </a:pPr>
            <a:r>
              <a:rPr sz="2300" b="0">
                <a:solidFill>
                  <a:srgbClr val="4A6372"/>
                </a:solidFill>
                <a:latin typeface="Arial"/>
              </a:rPr>
              <a:t>The response is repetitive and fragmented: call the bank, call 1930, file on cybercrime.gov.in, warn family, keep evidence.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4A6372"/>
                </a:solidFill>
                <a:latin typeface="Arial"/>
              </a:rPr>
              <a:t>In a panic, almost nobody does any of it in time, and scripts change language by language, so static block-lists miss them.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498079" y="2880360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0B7F88"/>
                </a:solidFill>
                <a:latin typeface="Arial"/>
              </a:rPr>
              <a:t>OUR SOLUTION: LISTEN → UNDERSTAND → INTERVENE → RESPOND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7498079" y="3520440"/>
            <a:ext cx="475488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9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7772400" y="3794760"/>
            <a:ext cx="685800" cy="685800"/>
          </a:xfrm>
          <a:prstGeom prst="ellipse">
            <a:avLst/>
          </a:prstGeom>
          <a:solidFill>
            <a:srgbClr val="0B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772400" y="379476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641080" y="3794760"/>
            <a:ext cx="3474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2A3D"/>
                </a:solidFill>
                <a:latin typeface="Times"/>
              </a:rPr>
              <a:t>Listen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772400" y="4709160"/>
            <a:ext cx="4251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4A6372"/>
                </a:solidFill>
                <a:latin typeface="Arial"/>
              </a:rPr>
              <a:t>Calls run through the app, so both legs are heard separately and live.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2435840" y="3520440"/>
            <a:ext cx="475488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9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2710160" y="3794760"/>
            <a:ext cx="685800" cy="685800"/>
          </a:xfrm>
          <a:prstGeom prst="ellipse">
            <a:avLst/>
          </a:prstGeom>
          <a:solidFill>
            <a:srgbClr val="0B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2710160" y="379476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3578840" y="3794760"/>
            <a:ext cx="3474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2A3D"/>
                </a:solidFill>
                <a:latin typeface="Times"/>
              </a:rPr>
              <a:t>Understand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2710160" y="4709160"/>
            <a:ext cx="4251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4A6372"/>
                </a:solidFill>
                <a:latin typeface="Arial"/>
              </a:rPr>
              <a:t>Indic speech-to-text, then a typed verdict: scam type, pressure 0–3, OTP/PIN ask, secrecy demand.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7498079" y="6537960"/>
            <a:ext cx="475488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9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7772400" y="6812280"/>
            <a:ext cx="685800" cy="685800"/>
          </a:xfrm>
          <a:prstGeom prst="ellipse">
            <a:avLst/>
          </a:prstGeom>
          <a:solidFill>
            <a:srgbClr val="0B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7772400" y="681228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641080" y="6812280"/>
            <a:ext cx="3474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2A3D"/>
                </a:solidFill>
                <a:latin typeface="Times"/>
              </a:rPr>
              <a:t>Intervene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772400" y="7726680"/>
            <a:ext cx="4251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4A6372"/>
                </a:solidFill>
                <a:latin typeface="Arial"/>
              </a:rPr>
              <a:t>Only the victim hears a whispered warning in their own language, plus an alarm.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12435840" y="6537960"/>
            <a:ext cx="475488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9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12710160" y="6812280"/>
            <a:ext cx="685800" cy="685800"/>
          </a:xfrm>
          <a:prstGeom prst="ellipse">
            <a:avLst/>
          </a:prstGeom>
          <a:solidFill>
            <a:srgbClr val="0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2710160" y="681228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3578840" y="6812280"/>
            <a:ext cx="3474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2A3D"/>
                </a:solidFill>
                <a:latin typeface="Times"/>
              </a:rPr>
              <a:t>Respond (n8n)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2710160" y="7726680"/>
            <a:ext cx="4251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4A6372"/>
                </a:solidFill>
                <a:latin typeface="Arial"/>
              </a:rPr>
              <a:t>An AI agent alerts family, drafts the 1930 complaint, logs evidence and updates a shared scam-number list.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  <p:txBody>
          <a:bodyPr/>
          <a:p/>
        </p:txBody>
      </p:sp>
      <p:sp>
        <p:nvSpPr>
          <p:cNvPr id="133" name="Google Shape;133;p3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34" name="Google Shape;134;p3"/>
          <p:cNvSpPr txBox="1"/>
          <p:nvPr/>
        </p:nvSpPr>
        <p:spPr>
          <a:xfrm>
            <a:off x="1028700" y="838200"/>
            <a:ext cx="16200000" cy="170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Tech Stack &amp; Architecture</a:t>
            </a:r>
            <a:endParaRPr/>
          </a:p>
        </p:txBody>
      </p:sp>
      <p:sp>
        <p:nvSpPr>
          <p:cNvPr id="135" name="Rounded Rectangle 134"/>
          <p:cNvSpPr/>
          <p:nvPr/>
        </p:nvSpPr>
        <p:spPr>
          <a:xfrm>
            <a:off x="1028700" y="2880360"/>
            <a:ext cx="16230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9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1028700" y="2880360"/>
            <a:ext cx="3291840" cy="1143000"/>
          </a:xfrm>
          <a:prstGeom prst="roundRect">
            <a:avLst>
              <a:gd name="adj" fmla="val 8000"/>
            </a:avLst>
          </a:prstGeom>
          <a:solidFill>
            <a:srgbClr val="0B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028700" y="2880360"/>
            <a:ext cx="329184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CAPTURE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572000" y="2880360"/>
            <a:ext cx="1252728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0F2A3D"/>
                </a:solidFill>
                <a:latin typeface="Arial"/>
              </a:rPr>
              <a:t>Flutter app (Android) · LiveKit WebRTC calling · Python agent hears caller and victim legs separately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1028700" y="4178808"/>
            <a:ext cx="16230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9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1028700" y="4178808"/>
            <a:ext cx="3291840" cy="1143000"/>
          </a:xfrm>
          <a:prstGeom prst="roundRect">
            <a:avLst>
              <a:gd name="adj" fmla="val 8000"/>
            </a:avLst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028700" y="4178808"/>
            <a:ext cx="329184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SPEECH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572000" y="4178808"/>
            <a:ext cx="1252728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0F2A3D"/>
                </a:solidFill>
                <a:latin typeface="Arial"/>
              </a:rPr>
              <a:t>Sarvam STT &amp; TTS: Hindi, Kannada, English and code-mixed speech, in and out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1028700" y="5477256"/>
            <a:ext cx="16230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9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1028700" y="5477256"/>
            <a:ext cx="3291840" cy="1143000"/>
          </a:xfrm>
          <a:prstGeom prst="roundRect">
            <a:avLst>
              <a:gd name="adj" fmla="val 8000"/>
            </a:avLst>
          </a:prstGeom>
          <a:solidFill>
            <a:srgbClr val="6A4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028700" y="5477256"/>
            <a:ext cx="329184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BRAIN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572000" y="5477256"/>
            <a:ext cx="1252728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0F2A3D"/>
                </a:solidFill>
                <a:latin typeface="Arial"/>
              </a:rPr>
              <a:t>Keyword fast path + Jev typed judgments: calibrated, milliseconds per chunk · Gemini fallback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1028700" y="6775704"/>
            <a:ext cx="16230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9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1028700" y="6775704"/>
            <a:ext cx="3291840" cy="114300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028700" y="6775704"/>
            <a:ext cx="329184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AUTOMATION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572000" y="6775704"/>
            <a:ext cx="1252728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0F2A3D"/>
                </a:solidFill>
                <a:latin typeface="Arial"/>
              </a:rPr>
              <a:t>n8n (self-hosted): webhook trigger · AI Agent node with tools · Switch/IF branching · retries · human-approval step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028700" y="8074152"/>
            <a:ext cx="16230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9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1028700" y="8074152"/>
            <a:ext cx="3291840" cy="1143000"/>
          </a:xfrm>
          <a:prstGeom prst="roundRect">
            <a:avLst>
              <a:gd name="adj" fmla="val 8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028700" y="8074152"/>
            <a:ext cx="329184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DATA &amp; NOTIFY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572000" y="8074152"/>
            <a:ext cx="1252728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0F2A3D"/>
                </a:solidFill>
                <a:latin typeface="Arial"/>
              </a:rPr>
              <a:t>Supabase: evidence log + shared scam-number list · Telegram alerts to trusted contacts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28700" y="9418320"/>
            <a:ext cx="16230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0">
                <a:solidFill>
                  <a:srgbClr val="4A6372"/>
                </a:solidFill>
                <a:latin typeface="Times"/>
              </a:rPr>
              <a:t>Open, cheap and auditable: the classifier answers in milliseconds, and self-hosted n8n keeps call data under our control.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  <p:txBody>
          <a:bodyPr/>
          <a:p/>
        </p:txBody>
      </p:sp>
      <p:sp>
        <p:nvSpPr>
          <p:cNvPr id="140" name="Google Shape;140;p4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27" name="Google Shape;127;p2"/>
          <p:cNvSpPr txBox="1"/>
          <p:nvPr/>
        </p:nvSpPr>
        <p:spPr>
          <a:xfrm>
            <a:off x="1028700" y="838200"/>
            <a:ext cx="16200000" cy="170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Beyond Task Automation</a:t>
            </a:r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1028700" y="27432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B7F88"/>
                </a:solidFill>
                <a:latin typeface="Arial"/>
              </a:rPr>
              <a:t>WHEN THE AGENT SEES…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326880" y="27432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B7F88"/>
                </a:solidFill>
                <a:latin typeface="Arial"/>
              </a:rPr>
              <a:t>…IT DECIDES AND ACTS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1028700" y="3246120"/>
            <a:ext cx="78638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9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028700" y="3337560"/>
            <a:ext cx="109728" cy="868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371600" y="3246120"/>
            <a:ext cx="74066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F2A3D"/>
                </a:solidFill>
                <a:latin typeface="Arial"/>
              </a:rPr>
              <a:t>Pressure ≥ 2 and asks for OTP / PIN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8961120" y="3771900"/>
            <a:ext cx="320040" cy="0"/>
          </a:xfrm>
          <a:prstGeom prst="line">
            <a:avLst/>
          </a:prstGeom>
          <a:ln w="38100">
            <a:solidFill>
              <a:srgbClr val="C0392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ounded Rectangle 146"/>
          <p:cNvSpPr/>
          <p:nvPr/>
        </p:nvSpPr>
        <p:spPr>
          <a:xfrm>
            <a:off x="9372600" y="3246120"/>
            <a:ext cx="78867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9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601200" y="3246120"/>
            <a:ext cx="7498079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A6372"/>
                </a:solidFill>
                <a:latin typeface="Arial"/>
              </a:rPr>
              <a:t>Whisper “Do not share that code”, ring the alarm, and ping trusted contacts now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028700" y="4434840"/>
            <a:ext cx="78638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9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028700" y="4526279"/>
            <a:ext cx="109728" cy="868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371600" y="4434840"/>
            <a:ext cx="74066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F2A3D"/>
                </a:solidFill>
                <a:latin typeface="Arial"/>
              </a:rPr>
              <a:t>Poses as police / CBI and demands secrecy</a:t>
            </a:r>
          </a:p>
        </p:txBody>
      </p:sp>
      <p:cxnSp>
        <p:nvCxnSpPr>
          <p:cNvPr id="152" name="Connector 151"/>
          <p:cNvCxnSpPr/>
          <p:nvPr/>
        </p:nvCxnSpPr>
        <p:spPr>
          <a:xfrm>
            <a:off x="8961120" y="4960620"/>
            <a:ext cx="320040" cy="0"/>
          </a:xfrm>
          <a:prstGeom prst="line">
            <a:avLst/>
          </a:prstGeom>
          <a:ln w="38100">
            <a:solidFill>
              <a:srgbClr val="C0392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Rounded Rectangle 152"/>
          <p:cNvSpPr/>
          <p:nvPr/>
        </p:nvSpPr>
        <p:spPr>
          <a:xfrm>
            <a:off x="9372600" y="4434840"/>
            <a:ext cx="78867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9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9601200" y="4434840"/>
            <a:ext cx="7498079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A6372"/>
                </a:solidFill>
                <a:latin typeface="Arial"/>
              </a:rPr>
              <a:t>Highest severity: send family the call summary and the next steps to follow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1028700" y="5623560"/>
            <a:ext cx="78638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9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1028700" y="5715000"/>
            <a:ext cx="109728" cy="868680"/>
          </a:xfrm>
          <a:prstGeom prst="rect">
            <a:avLst/>
          </a:prstGeom>
          <a:solidFill>
            <a:srgbClr val="E69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371600" y="5623560"/>
            <a:ext cx="74066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F2A3D"/>
                </a:solidFill>
                <a:latin typeface="Arial"/>
              </a:rPr>
              <a:t>Number already in the shared scam list</a:t>
            </a:r>
          </a:p>
        </p:txBody>
      </p:sp>
      <p:cxnSp>
        <p:nvCxnSpPr>
          <p:cNvPr id="158" name="Connector 157"/>
          <p:cNvCxnSpPr/>
          <p:nvPr/>
        </p:nvCxnSpPr>
        <p:spPr>
          <a:xfrm>
            <a:off x="8961120" y="6149340"/>
            <a:ext cx="320040" cy="0"/>
          </a:xfrm>
          <a:prstGeom prst="line">
            <a:avLst/>
          </a:prstGeom>
          <a:ln w="38100">
            <a:solidFill>
              <a:srgbClr val="E69B1E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Rounded Rectangle 158"/>
          <p:cNvSpPr/>
          <p:nvPr/>
        </p:nvSpPr>
        <p:spPr>
          <a:xfrm>
            <a:off x="9372600" y="5623560"/>
            <a:ext cx="78867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9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9601200" y="5623560"/>
            <a:ext cx="7498079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A6372"/>
                </a:solidFill>
                <a:latin typeface="Arial"/>
              </a:rPr>
              <a:t>Raise confidence, block, and skip the guessing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1028700" y="6812280"/>
            <a:ext cx="78638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9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1028700" y="6903720"/>
            <a:ext cx="109728" cy="868680"/>
          </a:xfrm>
          <a:prstGeom prst="rect">
            <a:avLst/>
          </a:prstGeom>
          <a:solidFill>
            <a:srgbClr val="0B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371600" y="6812280"/>
            <a:ext cx="74066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F2A3D"/>
                </a:solidFill>
                <a:latin typeface="Arial"/>
              </a:rPr>
              <a:t>Call ends, victim confirms what happened</a:t>
            </a:r>
          </a:p>
        </p:txBody>
      </p:sp>
      <p:cxnSp>
        <p:nvCxnSpPr>
          <p:cNvPr id="164" name="Connector 163"/>
          <p:cNvCxnSpPr/>
          <p:nvPr/>
        </p:nvCxnSpPr>
        <p:spPr>
          <a:xfrm>
            <a:off x="8961120" y="7338060"/>
            <a:ext cx="320040" cy="0"/>
          </a:xfrm>
          <a:prstGeom prst="line">
            <a:avLst/>
          </a:prstGeom>
          <a:ln w="38100">
            <a:solidFill>
              <a:srgbClr val="0B7F88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Rounded Rectangle 164"/>
          <p:cNvSpPr/>
          <p:nvPr/>
        </p:nvSpPr>
        <p:spPr>
          <a:xfrm>
            <a:off x="9372600" y="6812280"/>
            <a:ext cx="78867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9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9601200" y="6812280"/>
            <a:ext cx="7498079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A6372"/>
                </a:solidFill>
                <a:latin typeface="Arial"/>
              </a:rPr>
              <a:t>Agent drafts the 1930 / cybercrime.gov.in complaint in their language with transcript timestamps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1028700" y="8001000"/>
            <a:ext cx="78638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9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1028700" y="8092440"/>
            <a:ext cx="109728" cy="868680"/>
          </a:xfrm>
          <a:prstGeom prst="rect">
            <a:avLst/>
          </a:prstGeom>
          <a:solidFill>
            <a:srgbClr val="0B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371600" y="8001000"/>
            <a:ext cx="74066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F2A3D"/>
                </a:solidFill>
                <a:latin typeface="Arial"/>
              </a:rPr>
              <a:t>Money already moved</a:t>
            </a:r>
          </a:p>
        </p:txBody>
      </p:sp>
      <p:cxnSp>
        <p:nvCxnSpPr>
          <p:cNvPr id="170" name="Connector 169"/>
          <p:cNvCxnSpPr/>
          <p:nvPr/>
        </p:nvCxnSpPr>
        <p:spPr>
          <a:xfrm>
            <a:off x="8961120" y="8526780"/>
            <a:ext cx="320040" cy="0"/>
          </a:xfrm>
          <a:prstGeom prst="line">
            <a:avLst/>
          </a:prstGeom>
          <a:ln w="38100">
            <a:solidFill>
              <a:srgbClr val="0B7F88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Rounded Rectangle 170"/>
          <p:cNvSpPr/>
          <p:nvPr/>
        </p:nvSpPr>
        <p:spPr>
          <a:xfrm>
            <a:off x="9372600" y="8001000"/>
            <a:ext cx="78867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9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9601200" y="8001000"/>
            <a:ext cx="7498079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A6372"/>
                </a:solidFill>
                <a:latin typeface="Arial"/>
              </a:rPr>
              <a:t>Switch to the time-critical checklist: bank freeze steps and helpline, in order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1028700" y="9235440"/>
            <a:ext cx="16230600" cy="731520"/>
          </a:xfrm>
          <a:prstGeom prst="roundRect">
            <a:avLst>
              <a:gd name="adj" fmla="val 8000"/>
            </a:avLst>
          </a:prstGeom>
          <a:solidFill>
            <a:srgbClr val="0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280160" y="9235440"/>
            <a:ext cx="157276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Multi-step reasoning, autonomous execution. A human confirms only the one irreversible step: submitting the complaint.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46" name="Google Shape;146;p5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5"/>
          <p:cNvSpPr txBox="1"/>
          <p:nvPr/>
        </p:nvSpPr>
        <p:spPr>
          <a:xfrm>
            <a:off x="1028700" y="838200"/>
            <a:ext cx="13222815" cy="170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78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Data Flow Diagram</a:t>
            </a:r>
            <a:endParaRPr/>
          </a:p>
        </p:txBody>
      </p:sp>
      <p:sp>
        <p:nvSpPr>
          <p:cNvPr id="148" name="Rounded Rectangle 147"/>
          <p:cNvSpPr/>
          <p:nvPr/>
        </p:nvSpPr>
        <p:spPr>
          <a:xfrm>
            <a:off x="1051560" y="2926080"/>
            <a:ext cx="33832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0B7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234439" y="3017520"/>
            <a:ext cx="301752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0B7F88"/>
                </a:solidFill>
                <a:latin typeface="Times"/>
              </a:rPr>
              <a:t>Call audio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A6372"/>
                </a:solidFill>
                <a:latin typeface="Arial"/>
              </a:rPr>
              <a:t>LiveKit WebRTC, caller &amp; victim legs captured separately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5303520" y="2926080"/>
            <a:ext cx="33832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0B7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5486400" y="3017520"/>
            <a:ext cx="301752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0B7F88"/>
                </a:solidFill>
                <a:latin typeface="Times"/>
              </a:rPr>
              <a:t>Sarvam STT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A6372"/>
                </a:solidFill>
                <a:latin typeface="Arial"/>
              </a:rPr>
              <a:t>Indic speech to text, streaming chunks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9555480" y="2926080"/>
            <a:ext cx="33832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6A4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9738359" y="3017520"/>
            <a:ext cx="301752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6A4CB5"/>
                </a:solidFill>
                <a:latin typeface="Times"/>
              </a:rPr>
              <a:t>Jev classifier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A6372"/>
                </a:solidFill>
                <a:latin typeface="Arial"/>
              </a:rPr>
              <a:t>Typed verdict: scam type, pressure 0–3, OTP ask, secrecy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13807440" y="2926080"/>
            <a:ext cx="34290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3990319" y="3017520"/>
            <a:ext cx="30632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C0392B"/>
                </a:solidFill>
                <a:latin typeface="Times"/>
              </a:rPr>
              <a:t>Risk gate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A6372"/>
                </a:solidFill>
                <a:latin typeface="Arial"/>
              </a:rPr>
              <a:t>Threshold crossed: both paths fire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4480559" y="3794760"/>
            <a:ext cx="777241" cy="0"/>
          </a:xfrm>
          <a:prstGeom prst="line">
            <a:avLst/>
          </a:prstGeom>
          <a:ln w="38100">
            <a:solidFill>
              <a:srgbClr val="0B7F88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8732520" y="3794760"/>
            <a:ext cx="777239" cy="0"/>
          </a:xfrm>
          <a:prstGeom prst="line">
            <a:avLst/>
          </a:prstGeom>
          <a:ln w="38100">
            <a:solidFill>
              <a:srgbClr val="0B7F88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12984480" y="3794760"/>
            <a:ext cx="777239" cy="0"/>
          </a:xfrm>
          <a:prstGeom prst="line">
            <a:avLst/>
          </a:prstGeom>
          <a:ln w="38100">
            <a:solidFill>
              <a:srgbClr val="0B7F88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15517367" y="4709160"/>
            <a:ext cx="0" cy="777240"/>
          </a:xfrm>
          <a:prstGeom prst="line">
            <a:avLst/>
          </a:prstGeom>
          <a:ln w="38100">
            <a:solidFill>
              <a:srgbClr val="C0392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/>
          <p:cNvSpPr txBox="1"/>
          <p:nvPr/>
        </p:nvSpPr>
        <p:spPr>
          <a:xfrm>
            <a:off x="10058400" y="4828032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700" b="0">
                <a:solidFill>
                  <a:srgbClr val="C0392B"/>
                </a:solidFill>
                <a:latin typeface="Arial"/>
              </a:rPr>
              <a:t>fires in parallel</a:t>
            </a:r>
          </a:p>
        </p:txBody>
      </p:sp>
      <p:cxnSp>
        <p:nvCxnSpPr>
          <p:cNvPr id="161" name="Connector 160"/>
          <p:cNvCxnSpPr/>
          <p:nvPr/>
        </p:nvCxnSpPr>
        <p:spPr>
          <a:xfrm flipH="1">
            <a:off x="7772400" y="5138928"/>
            <a:ext cx="7744967" cy="0"/>
          </a:xfrm>
          <a:prstGeom prst="line">
            <a:avLst/>
          </a:prstGeom>
          <a:ln w="381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7772400" y="5138928"/>
            <a:ext cx="0" cy="347472"/>
          </a:xfrm>
          <a:prstGeom prst="line">
            <a:avLst/>
          </a:prstGeom>
          <a:ln w="38100">
            <a:solidFill>
              <a:srgbClr val="C0392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Rounded Rectangle 162"/>
          <p:cNvSpPr/>
          <p:nvPr/>
        </p:nvSpPr>
        <p:spPr>
          <a:xfrm>
            <a:off x="1051560" y="5486400"/>
            <a:ext cx="12801600" cy="1371600"/>
          </a:xfrm>
          <a:prstGeom prst="roundRect">
            <a:avLst>
              <a:gd name="adj" fmla="val 8000"/>
            </a:avLst>
          </a:prstGeom>
          <a:solidFill>
            <a:srgbClr val="FDF1EF"/>
          </a:solidFill>
          <a:ln w="317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234439" y="5577840"/>
            <a:ext cx="12435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C0392B"/>
                </a:solidFill>
                <a:latin typeface="Times"/>
              </a:rPr>
              <a:t>n8n AI Agent (self-hosted)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A6372"/>
                </a:solidFill>
                <a:latin typeface="Arial"/>
              </a:rPr>
              <a:t>Webhook receives the verdict + transcript · agent plans the response, calls tools, branches on severity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14127480" y="5486400"/>
            <a:ext cx="3154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0B7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4310359" y="5577840"/>
            <a:ext cx="27889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0B7F88"/>
                </a:solidFill>
                <a:latin typeface="Times"/>
              </a:rPr>
              <a:t>Live path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A6372"/>
                </a:solidFill>
                <a:latin typeface="Arial"/>
              </a:rPr>
              <a:t>Victim only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1051560" y="7452360"/>
            <a:ext cx="39319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1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234439" y="7543800"/>
            <a:ext cx="3566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1E8E5A"/>
                </a:solidFill>
                <a:latin typeface="Times"/>
              </a:rPr>
              <a:t>Family alert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A6372"/>
                </a:solidFill>
                <a:latin typeface="Arial"/>
              </a:rPr>
              <a:t>Summary + next steps to trusted contacts</a:t>
            </a:r>
          </a:p>
        </p:txBody>
      </p:sp>
      <p:cxnSp>
        <p:nvCxnSpPr>
          <p:cNvPr id="169" name="Connector 168"/>
          <p:cNvCxnSpPr/>
          <p:nvPr/>
        </p:nvCxnSpPr>
        <p:spPr>
          <a:xfrm>
            <a:off x="3017520" y="6903720"/>
            <a:ext cx="91440" cy="502920"/>
          </a:xfrm>
          <a:prstGeom prst="line">
            <a:avLst/>
          </a:prstGeom>
          <a:ln w="38100">
            <a:solidFill>
              <a:srgbClr val="1E8E5A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Rounded Rectangle 169"/>
          <p:cNvSpPr/>
          <p:nvPr/>
        </p:nvSpPr>
        <p:spPr>
          <a:xfrm>
            <a:off x="5303520" y="7452360"/>
            <a:ext cx="39319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1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5486400" y="7543800"/>
            <a:ext cx="3566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1E8E5A"/>
                </a:solidFill>
                <a:latin typeface="Times"/>
              </a:rPr>
              <a:t>1930 complaint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A6372"/>
                </a:solidFill>
                <a:latin typeface="Arial"/>
              </a:rPr>
              <a:t>Draft in victim's language, confirm, file</a:t>
            </a:r>
          </a:p>
        </p:txBody>
      </p:sp>
      <p:cxnSp>
        <p:nvCxnSpPr>
          <p:cNvPr id="172" name="Connector 171"/>
          <p:cNvCxnSpPr/>
          <p:nvPr/>
        </p:nvCxnSpPr>
        <p:spPr>
          <a:xfrm>
            <a:off x="7269480" y="6903720"/>
            <a:ext cx="91440" cy="502920"/>
          </a:xfrm>
          <a:prstGeom prst="line">
            <a:avLst/>
          </a:prstGeom>
          <a:ln w="38100">
            <a:solidFill>
              <a:srgbClr val="1E8E5A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Rounded Rectangle 172"/>
          <p:cNvSpPr/>
          <p:nvPr/>
        </p:nvSpPr>
        <p:spPr>
          <a:xfrm>
            <a:off x="9555480" y="7452360"/>
            <a:ext cx="39319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1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738360" y="7543800"/>
            <a:ext cx="3566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1E8E5A"/>
                </a:solidFill>
                <a:latin typeface="Times"/>
              </a:rPr>
              <a:t>Evidence + shared list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A6372"/>
                </a:solidFill>
                <a:latin typeface="Arial"/>
              </a:rPr>
              <a:t>Supabase log, scam number added</a:t>
            </a:r>
          </a:p>
        </p:txBody>
      </p:sp>
      <p:cxnSp>
        <p:nvCxnSpPr>
          <p:cNvPr id="175" name="Connector 174"/>
          <p:cNvCxnSpPr/>
          <p:nvPr/>
        </p:nvCxnSpPr>
        <p:spPr>
          <a:xfrm>
            <a:off x="11521440" y="6903720"/>
            <a:ext cx="91440" cy="502920"/>
          </a:xfrm>
          <a:prstGeom prst="line">
            <a:avLst/>
          </a:prstGeom>
          <a:ln w="38100">
            <a:solidFill>
              <a:srgbClr val="1E8E5A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Rounded Rectangle 175"/>
          <p:cNvSpPr/>
          <p:nvPr/>
        </p:nvSpPr>
        <p:spPr>
          <a:xfrm>
            <a:off x="13670280" y="7452360"/>
            <a:ext cx="36118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0B7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13853159" y="7543800"/>
            <a:ext cx="324612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0B7F88"/>
                </a:solidFill>
                <a:latin typeface="Times"/>
              </a:rPr>
              <a:t>Alarm + TTS whisper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A6372"/>
                </a:solidFill>
                <a:latin typeface="Arial"/>
              </a:rPr>
              <a:t>In their own language</a:t>
            </a:r>
          </a:p>
        </p:txBody>
      </p:sp>
      <p:cxnSp>
        <p:nvCxnSpPr>
          <p:cNvPr id="178" name="Connector 177"/>
          <p:cNvCxnSpPr/>
          <p:nvPr/>
        </p:nvCxnSpPr>
        <p:spPr>
          <a:xfrm>
            <a:off x="15700248" y="6903720"/>
            <a:ext cx="0" cy="502920"/>
          </a:xfrm>
          <a:prstGeom prst="line">
            <a:avLst/>
          </a:prstGeom>
          <a:ln w="38100">
            <a:solidFill>
              <a:srgbClr val="0B7F88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Rounded Rectangle 178"/>
          <p:cNvSpPr/>
          <p:nvPr/>
        </p:nvSpPr>
        <p:spPr>
          <a:xfrm>
            <a:off x="1051560" y="9144000"/>
            <a:ext cx="16230600" cy="777240"/>
          </a:xfrm>
          <a:prstGeom prst="roundRect">
            <a:avLst>
              <a:gd name="adj" fmla="val 8000"/>
            </a:avLst>
          </a:prstGeom>
          <a:solidFill>
            <a:srgbClr val="0F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280160" y="9144000"/>
            <a:ext cx="158191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Feedback loop: every caught scam number joins the shared list and sharpens the next call's verdict.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  <p:txBody>
          <a:bodyPr/>
          <a:p/>
        </p:txBody>
      </p:sp>
      <p:sp>
        <p:nvSpPr>
          <p:cNvPr id="153" name="Google Shape;153;p6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54" name="Google Shape;154;p6"/>
          <p:cNvSpPr txBox="1"/>
          <p:nvPr/>
        </p:nvSpPr>
        <p:spPr>
          <a:xfrm>
            <a:off x="1028700" y="866775"/>
            <a:ext cx="16200000" cy="13933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13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Screenshot of Your Project</a:t>
            </a:r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1028700" y="2514600"/>
            <a:ext cx="1618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A6372"/>
                </a:solidFill>
                <a:latin typeface="Times"/>
              </a:rPr>
              <a:t>Concept screens: the live build is demoed at the event.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1280160" y="3108960"/>
            <a:ext cx="4572000" cy="6675120"/>
          </a:xfrm>
          <a:prstGeom prst="roundRect">
            <a:avLst>
              <a:gd name="adj" fmla="val 7000"/>
            </a:avLst>
          </a:prstGeom>
          <a:solidFill>
            <a:srgbClr val="14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1463039" y="3337560"/>
            <a:ext cx="4206240" cy="6217920"/>
          </a:xfrm>
          <a:prstGeom prst="roundRect">
            <a:avLst>
              <a:gd name="adj" fmla="val 5000"/>
            </a:avLst>
          </a:prstGeom>
          <a:solidFill>
            <a:srgbClr val="3B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737360" y="3703320"/>
            <a:ext cx="3657599" cy="548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FFB4AB"/>
                </a:solidFill>
                <a:latin typeface="Arial"/>
              </a:rPr>
              <a:t>⚠ LIVE CALL</a:t>
            </a:r>
          </a:p>
          <a:p>
            <a:pPr algn="l">
              <a:spcAft>
                <a:spcPts val="1600"/>
              </a:spcAft>
            </a:pPr>
            <a:r>
              <a:rPr sz="3200" b="1">
                <a:solidFill>
                  <a:srgbClr val="FFFFFF"/>
                </a:solidFill>
                <a:latin typeface="Times"/>
              </a:rPr>
              <a:t>Possible digital-arrest scam</a:t>
            </a:r>
          </a:p>
          <a:p>
            <a:pPr algn="l">
              <a:spcAft>
                <a:spcPts val="1600"/>
              </a:spcAft>
            </a:pPr>
            <a:r>
              <a:rPr sz="1900" b="0">
                <a:solidFill>
                  <a:srgbClr val="F3D0CB"/>
                </a:solidFill>
                <a:latin typeface="Arial"/>
              </a:rPr>
              <a:t>Caller claims to be CBI and asks you to keep this secret.</a:t>
            </a:r>
          </a:p>
          <a:p>
            <a:pPr algn="l">
              <a:spcAft>
                <a:spcPts val="1600"/>
              </a:spcAft>
            </a:pPr>
            <a:r>
              <a:rPr sz="2000" b="1">
                <a:solidFill>
                  <a:srgbClr val="FF8A7A"/>
                </a:solidFill>
                <a:latin typeface="Arial"/>
              </a:rPr>
              <a:t>PRESSURE  ■ ■ ■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Do NOT share any OTP or PIN.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737360" y="8458200"/>
            <a:ext cx="3657599" cy="731520"/>
          </a:xfrm>
          <a:prstGeom prst="roundRect">
            <a:avLst>
              <a:gd name="adj" fmla="val 3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737360" y="8458200"/>
            <a:ext cx="365759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END CALL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6583680" y="3108960"/>
            <a:ext cx="4572000" cy="6675120"/>
          </a:xfrm>
          <a:prstGeom prst="roundRect">
            <a:avLst>
              <a:gd name="adj" fmla="val 7000"/>
            </a:avLst>
          </a:prstGeom>
          <a:solidFill>
            <a:srgbClr val="14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ounded Rectangle 161"/>
          <p:cNvSpPr/>
          <p:nvPr/>
        </p:nvSpPr>
        <p:spPr>
          <a:xfrm>
            <a:off x="6766560" y="3337560"/>
            <a:ext cx="4206240" cy="6217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7040880" y="3657600"/>
            <a:ext cx="3657599" cy="594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3000" b="1">
                <a:solidFill>
                  <a:srgbClr val="0F2A3D"/>
                </a:solidFill>
                <a:latin typeface="Times"/>
              </a:rPr>
              <a:t>Call summary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7040880" y="4526280"/>
            <a:ext cx="3657599" cy="1005840"/>
          </a:xfrm>
          <a:prstGeom prst="roundRect">
            <a:avLst>
              <a:gd name="adj" fmla="val 12000"/>
            </a:avLst>
          </a:prstGeom>
          <a:solidFill>
            <a:srgbClr val="EE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223760" y="4526280"/>
            <a:ext cx="329183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E8E5A"/>
                </a:solidFill>
                <a:latin typeface="Arial"/>
              </a:rPr>
              <a:t>✔ Family alerted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A6372"/>
                </a:solidFill>
                <a:latin typeface="Arial"/>
              </a:rPr>
              <a:t>2 trusted contacts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7040880" y="5715000"/>
            <a:ext cx="3657599" cy="1005840"/>
          </a:xfrm>
          <a:prstGeom prst="roundRect">
            <a:avLst>
              <a:gd name="adj" fmla="val 12000"/>
            </a:avLst>
          </a:prstGeom>
          <a:solidFill>
            <a:srgbClr val="EE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7223760" y="5715000"/>
            <a:ext cx="329183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E8E5A"/>
                </a:solidFill>
                <a:latin typeface="Arial"/>
              </a:rPr>
              <a:t>✔ 1930 complaint drafted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A6372"/>
                </a:solidFill>
                <a:latin typeface="Arial"/>
              </a:rPr>
              <a:t>Review and confirm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7040880" y="6903720"/>
            <a:ext cx="3657599" cy="1005840"/>
          </a:xfrm>
          <a:prstGeom prst="roundRect">
            <a:avLst>
              <a:gd name="adj" fmla="val 12000"/>
            </a:avLst>
          </a:prstGeom>
          <a:solidFill>
            <a:srgbClr val="EE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7223760" y="6903720"/>
            <a:ext cx="329183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E8E5A"/>
                </a:solidFill>
                <a:latin typeface="Arial"/>
              </a:rPr>
              <a:t>✔ Evidence saved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A6372"/>
                </a:solidFill>
                <a:latin typeface="Arial"/>
              </a:rPr>
              <a:t>Transcript + timestamps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7040880" y="8092440"/>
            <a:ext cx="3657599" cy="1005840"/>
          </a:xfrm>
          <a:prstGeom prst="roundRect">
            <a:avLst>
              <a:gd name="adj" fmla="val 12000"/>
            </a:avLst>
          </a:prstGeom>
          <a:solidFill>
            <a:srgbClr val="EE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223760" y="8092440"/>
            <a:ext cx="329183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E8E5A"/>
                </a:solidFill>
                <a:latin typeface="Arial"/>
              </a:rPr>
              <a:t>✔ Number added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A6372"/>
                </a:solidFill>
                <a:latin typeface="Arial"/>
              </a:rPr>
              <a:t>Shared scam list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11887200" y="3108960"/>
            <a:ext cx="5394960" cy="6675120"/>
          </a:xfrm>
          <a:prstGeom prst="roundRect">
            <a:avLst>
              <a:gd name="adj" fmla="val 3000"/>
            </a:avLst>
          </a:prstGeom>
          <a:solidFill>
            <a:srgbClr val="1E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12161520" y="32918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6D5A"/>
                </a:solidFill>
                <a:latin typeface="Arial"/>
              </a:rPr>
              <a:t>n8n · Chaukanna response workflow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12207240" y="4023360"/>
            <a:ext cx="1737360" cy="731520"/>
          </a:xfrm>
          <a:prstGeom prst="roundRect">
            <a:avLst>
              <a:gd name="adj" fmla="val 20000"/>
            </a:avLst>
          </a:prstGeom>
          <a:solidFill>
            <a:srgbClr val="3A3E52"/>
          </a:solidFill>
          <a:ln w="15240">
            <a:solidFill>
              <a:srgbClr val="8A9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12207240" y="4023360"/>
            <a:ext cx="1737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Webhook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15179040" y="4023360"/>
            <a:ext cx="1737360" cy="731520"/>
          </a:xfrm>
          <a:prstGeom prst="roundRect">
            <a:avLst>
              <a:gd name="adj" fmla="val 20000"/>
            </a:avLst>
          </a:prstGeom>
          <a:solidFill>
            <a:srgbClr val="7A3ED1"/>
          </a:solidFill>
          <a:ln w="15240">
            <a:solidFill>
              <a:srgbClr val="8A9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15179040" y="4023360"/>
            <a:ext cx="1737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AI Agent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15179040" y="5303520"/>
            <a:ext cx="1737360" cy="731520"/>
          </a:xfrm>
          <a:prstGeom prst="roundRect">
            <a:avLst>
              <a:gd name="adj" fmla="val 20000"/>
            </a:avLst>
          </a:prstGeom>
          <a:solidFill>
            <a:srgbClr val="3A3E52"/>
          </a:solidFill>
          <a:ln w="15240">
            <a:solidFill>
              <a:srgbClr val="8A9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15179040" y="5303520"/>
            <a:ext cx="1737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Switch: severity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12207240" y="6675120"/>
            <a:ext cx="1737360" cy="731520"/>
          </a:xfrm>
          <a:prstGeom prst="roundRect">
            <a:avLst>
              <a:gd name="adj" fmla="val 20000"/>
            </a:avLst>
          </a:prstGeom>
          <a:solidFill>
            <a:srgbClr val="1E7A4E"/>
          </a:solidFill>
          <a:ln w="15240">
            <a:solidFill>
              <a:srgbClr val="8A9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12207240" y="6675120"/>
            <a:ext cx="1737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Family alert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15179040" y="6675120"/>
            <a:ext cx="1737360" cy="731520"/>
          </a:xfrm>
          <a:prstGeom prst="roundRect">
            <a:avLst>
              <a:gd name="adj" fmla="val 20000"/>
            </a:avLst>
          </a:prstGeom>
          <a:solidFill>
            <a:srgbClr val="1E7A4E"/>
          </a:solidFill>
          <a:ln w="15240">
            <a:solidFill>
              <a:srgbClr val="8A9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15179040" y="6675120"/>
            <a:ext cx="1737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1930 draft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12207240" y="8046720"/>
            <a:ext cx="1737360" cy="731520"/>
          </a:xfrm>
          <a:prstGeom prst="roundRect">
            <a:avLst>
              <a:gd name="adj" fmla="val 20000"/>
            </a:avLst>
          </a:prstGeom>
          <a:solidFill>
            <a:srgbClr val="B77A10"/>
          </a:solidFill>
          <a:ln w="15240">
            <a:solidFill>
              <a:srgbClr val="8A9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12207240" y="8046720"/>
            <a:ext cx="1737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Wait: confirm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15179040" y="8046720"/>
            <a:ext cx="1737360" cy="731520"/>
          </a:xfrm>
          <a:prstGeom prst="roundRect">
            <a:avLst>
              <a:gd name="adj" fmla="val 20000"/>
            </a:avLst>
          </a:prstGeom>
          <a:solidFill>
            <a:srgbClr val="1E7A4E"/>
          </a:solidFill>
          <a:ln w="15240">
            <a:solidFill>
              <a:srgbClr val="8A9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15179040" y="8046720"/>
            <a:ext cx="1737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Supabase log</a:t>
            </a:r>
          </a:p>
        </p:txBody>
      </p:sp>
      <p:cxnSp>
        <p:nvCxnSpPr>
          <p:cNvPr id="188" name="Connector 187"/>
          <p:cNvCxnSpPr/>
          <p:nvPr/>
        </p:nvCxnSpPr>
        <p:spPr>
          <a:xfrm>
            <a:off x="13944600" y="4389120"/>
            <a:ext cx="1234440" cy="0"/>
          </a:xfrm>
          <a:prstGeom prst="line">
            <a:avLst/>
          </a:prstGeom>
          <a:ln w="25400">
            <a:solidFill>
              <a:srgbClr val="8A90B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16047720" y="4754880"/>
            <a:ext cx="0" cy="548640"/>
          </a:xfrm>
          <a:prstGeom prst="line">
            <a:avLst/>
          </a:prstGeom>
          <a:ln w="25400">
            <a:solidFill>
              <a:srgbClr val="8A90B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16047720" y="6035040"/>
            <a:ext cx="0" cy="640080"/>
          </a:xfrm>
          <a:prstGeom prst="line">
            <a:avLst/>
          </a:prstGeom>
          <a:ln w="25400">
            <a:solidFill>
              <a:srgbClr val="8A90B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H="1">
            <a:off x="13075920" y="6035040"/>
            <a:ext cx="2103120" cy="640080"/>
          </a:xfrm>
          <a:prstGeom prst="line">
            <a:avLst/>
          </a:prstGeom>
          <a:ln w="25400">
            <a:solidFill>
              <a:srgbClr val="8A90B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H="1">
            <a:off x="13716000" y="7406640"/>
            <a:ext cx="2331720" cy="640080"/>
          </a:xfrm>
          <a:prstGeom prst="line">
            <a:avLst/>
          </a:prstGeom>
          <a:ln w="25400">
            <a:solidFill>
              <a:srgbClr val="8A90B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16047720" y="7406640"/>
            <a:ext cx="0" cy="640080"/>
          </a:xfrm>
          <a:prstGeom prst="line">
            <a:avLst/>
          </a:prstGeom>
          <a:ln w="25400">
            <a:solidFill>
              <a:srgbClr val="8A90B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TextBox 193"/>
          <p:cNvSpPr txBox="1"/>
          <p:nvPr/>
        </p:nvSpPr>
        <p:spPr>
          <a:xfrm>
            <a:off x="1280160" y="98755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0F2A3D"/>
                </a:solidFill>
                <a:latin typeface="Arial"/>
              </a:rPr>
              <a:t>Alarm screen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6583680" y="98755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0F2A3D"/>
                </a:solidFill>
                <a:latin typeface="Arial"/>
              </a:rPr>
              <a:t>After-call report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1887200" y="987552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0F2A3D"/>
                </a:solidFill>
                <a:latin typeface="Arial"/>
              </a:rPr>
              <a:t>n8n workflow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  <p:txBody>
          <a:bodyPr/>
          <a:p/>
        </p:txBody>
      </p:sp>
      <p:sp>
        <p:nvSpPr>
          <p:cNvPr id="160" name="Google Shape;160;p7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61" name="Google Shape;161;p7"/>
          <p:cNvSpPr txBox="1"/>
          <p:nvPr/>
        </p:nvSpPr>
        <p:spPr>
          <a:xfrm>
            <a:off x="1028700" y="866775"/>
            <a:ext cx="16200000" cy="13933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113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Others</a:t>
            </a:r>
            <a:endParaRPr/>
          </a:p>
        </p:txBody>
      </p:sp>
      <p:sp>
        <p:nvSpPr>
          <p:cNvPr id="162" name="Rounded Rectangle 161"/>
          <p:cNvSpPr/>
          <p:nvPr/>
        </p:nvSpPr>
        <p:spPr>
          <a:xfrm>
            <a:off x="1028700" y="2926080"/>
            <a:ext cx="5257800" cy="6675120"/>
          </a:xfrm>
          <a:prstGeom prst="roundRect">
            <a:avLst>
              <a:gd name="adj" fmla="val 8000"/>
            </a:avLst>
          </a:prstGeom>
          <a:solidFill>
            <a:srgbClr val="F7FBFC"/>
          </a:solidFill>
          <a:ln w="19050">
            <a:solidFill>
              <a:srgbClr val="A9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1028700" y="3154680"/>
            <a:ext cx="91440" cy="4572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348740" y="3108960"/>
            <a:ext cx="4663440" cy="640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800" b="1">
                <a:solidFill>
                  <a:srgbClr val="0F2A3D"/>
                </a:solidFill>
                <a:latin typeface="Times"/>
              </a:rPr>
              <a:t>Impact</a:t>
            </a:r>
          </a:p>
          <a:p>
            <a:pPr algn="l">
              <a:spcAft>
                <a:spcPts val="700"/>
              </a:spcAft>
            </a:pPr>
            <a:r>
              <a:rPr sz="2700" b="0">
                <a:solidFill>
                  <a:srgbClr val="0F2A3D"/>
                </a:solidFill>
                <a:latin typeface="Arial"/>
              </a:rPr>
              <a:t>Protects the people scammers target most: elders and first-time digital users, in their own language.</a:t>
            </a:r>
          </a:p>
          <a:p>
            <a:pPr algn="l">
              <a:spcAft>
                <a:spcPts val="700"/>
              </a:spcAft>
            </a:pPr>
            <a:r>
              <a:rPr sz="2700" b="0">
                <a:solidFill>
                  <a:srgbClr val="4A6372"/>
                </a:solidFill>
                <a:latin typeface="Arial"/>
              </a:rPr>
              <a:t>Turns minutes of panic into steps that run on their own.</a:t>
            </a:r>
          </a:p>
          <a:p>
            <a:pPr algn="l">
              <a:spcAft>
                <a:spcPts val="700"/>
              </a:spcAft>
            </a:pPr>
            <a:r>
              <a:rPr sz="2700" b="0">
                <a:solidFill>
                  <a:srgbClr val="4A6372"/>
                </a:solidFill>
                <a:latin typeface="Arial"/>
              </a:rPr>
              <a:t>Every report grows a shared scam-number list that protects the next person.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6515100" y="2926080"/>
            <a:ext cx="5257800" cy="6675120"/>
          </a:xfrm>
          <a:prstGeom prst="roundRect">
            <a:avLst>
              <a:gd name="adj" fmla="val 8000"/>
            </a:avLst>
          </a:prstGeom>
          <a:solidFill>
            <a:srgbClr val="F7FBFC"/>
          </a:solidFill>
          <a:ln w="19050">
            <a:solidFill>
              <a:srgbClr val="A9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515100" y="3154680"/>
            <a:ext cx="9144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6835140" y="3108960"/>
            <a:ext cx="4663440" cy="640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800" b="1">
                <a:solidFill>
                  <a:srgbClr val="0F2A3D"/>
                </a:solidFill>
                <a:latin typeface="Times"/>
              </a:rPr>
              <a:t>Why n8n</a:t>
            </a:r>
          </a:p>
          <a:p>
            <a:pPr algn="l">
              <a:spcAft>
                <a:spcPts val="700"/>
              </a:spcAft>
            </a:pPr>
            <a:r>
              <a:rPr sz="2700" b="0">
                <a:solidFill>
                  <a:srgbClr val="0F2A3D"/>
                </a:solidFill>
                <a:latin typeface="Arial"/>
              </a:rPr>
              <a:t>Visual, auditable response flow that judges and families can follow.</a:t>
            </a:r>
          </a:p>
          <a:p>
            <a:pPr algn="l">
              <a:spcAft>
                <a:spcPts val="700"/>
              </a:spcAft>
            </a:pPr>
            <a:r>
              <a:rPr sz="2700" b="0">
                <a:solidFill>
                  <a:srgbClr val="4A6372"/>
                </a:solidFill>
                <a:latin typeface="Arial"/>
              </a:rPr>
              <a:t>AI Agent node with tools gives multi-step reasoning, not just triggers.</a:t>
            </a:r>
          </a:p>
          <a:p>
            <a:pPr algn="l">
              <a:spcAft>
                <a:spcPts val="700"/>
              </a:spcAft>
            </a:pPr>
            <a:r>
              <a:rPr sz="2700" b="0">
                <a:solidFill>
                  <a:srgbClr val="4A6372"/>
                </a:solidFill>
                <a:latin typeface="Arial"/>
              </a:rPr>
              <a:t>Retries, branching and a human-approval step built in.</a:t>
            </a:r>
          </a:p>
          <a:p>
            <a:pPr algn="l">
              <a:spcAft>
                <a:spcPts val="700"/>
              </a:spcAft>
            </a:pPr>
            <a:r>
              <a:rPr sz="2700" b="0">
                <a:solidFill>
                  <a:srgbClr val="4A6372"/>
                </a:solidFill>
                <a:latin typeface="Arial"/>
              </a:rPr>
              <a:t>Self-hosted, so call data stays ours.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12001500" y="2926080"/>
            <a:ext cx="5257800" cy="6675120"/>
          </a:xfrm>
          <a:prstGeom prst="roundRect">
            <a:avLst>
              <a:gd name="adj" fmla="val 8000"/>
            </a:avLst>
          </a:prstGeom>
          <a:solidFill>
            <a:srgbClr val="F7FBFC"/>
          </a:solidFill>
          <a:ln w="19050">
            <a:solidFill>
              <a:srgbClr val="A9D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2001500" y="3154680"/>
            <a:ext cx="91440" cy="457200"/>
          </a:xfrm>
          <a:prstGeom prst="rect">
            <a:avLst/>
          </a:prstGeom>
          <a:solidFill>
            <a:srgbClr val="0B7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2321540" y="3108960"/>
            <a:ext cx="4663440" cy="640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800" b="1">
                <a:solidFill>
                  <a:srgbClr val="0F2A3D"/>
                </a:solidFill>
                <a:latin typeface="Times"/>
              </a:rPr>
              <a:t>Roadmap</a:t>
            </a:r>
          </a:p>
          <a:p>
            <a:pPr algn="l">
              <a:spcAft>
                <a:spcPts val="700"/>
              </a:spcAft>
            </a:pPr>
            <a:r>
              <a:rPr sz="2700" b="0">
                <a:solidFill>
                  <a:srgbClr val="0F2A3D"/>
                </a:solidFill>
                <a:latin typeface="Arial"/>
              </a:rPr>
              <a:t>Hackathon: app-to-app guardian calls with the full n8n response.</a:t>
            </a:r>
          </a:p>
          <a:p>
            <a:pPr algn="l">
              <a:spcAft>
                <a:spcPts val="700"/>
              </a:spcAft>
            </a:pPr>
            <a:r>
              <a:rPr sz="2700" b="0">
                <a:solidFill>
                  <a:srgbClr val="4A6372"/>
                </a:solidFill>
                <a:latin typeface="Arial"/>
              </a:rPr>
              <a:t>Next: real phone numbers via SIP (Exotel / Plivo / Twilio into LiveKit).</a:t>
            </a:r>
          </a:p>
          <a:p>
            <a:pPr algn="l">
              <a:spcAft>
                <a:spcPts val="700"/>
              </a:spcAft>
            </a:pPr>
            <a:r>
              <a:rPr sz="2700" b="0">
                <a:solidFill>
                  <a:srgbClr val="4A6372"/>
                </a:solidFill>
                <a:latin typeface="Arial"/>
              </a:rPr>
              <a:t>Then: more Indic languages, and sharing scam signals with banks and telecoms.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